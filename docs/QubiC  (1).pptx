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</p:sldIdLst>
  <p:sldSz cy="5143500" cx="9144000"/>
  <p:notesSz cx="6858000" cy="9144000"/>
  <p:embeddedFontLst>
    <p:embeddedFont>
      <p:font typeface="Economica"/>
      <p:regular r:id="rId78"/>
      <p:bold r:id="rId79"/>
      <p:italic r:id="rId80"/>
      <p:boldItalic r:id="rId81"/>
    </p:embeddedFont>
    <p:embeddedFont>
      <p:font typeface="Open Sans"/>
      <p:regular r:id="rId82"/>
      <p:bold r:id="rId83"/>
      <p:italic r:id="rId84"/>
      <p:boldItalic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64BD136-440F-4FF9-99F6-342C2503599D}">
  <a:tblStyle styleId="{264BD136-440F-4FF9-99F6-342C2503599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OpenSans-italic.fntdata"/><Relationship Id="rId83" Type="http://schemas.openxmlformats.org/officeDocument/2006/relationships/font" Target="fonts/OpenSans-bold.fntdata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85" Type="http://schemas.openxmlformats.org/officeDocument/2006/relationships/font" Target="fonts/OpenSans-boldItalic.fntdata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Economica-italic.fntdata"/><Relationship Id="rId82" Type="http://schemas.openxmlformats.org/officeDocument/2006/relationships/font" Target="fonts/OpenSans-regular.fntdata"/><Relationship Id="rId81" Type="http://schemas.openxmlformats.org/officeDocument/2006/relationships/font" Target="fonts/Economica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font" Target="fonts/Economica-bold.fntdata"/><Relationship Id="rId34" Type="http://schemas.openxmlformats.org/officeDocument/2006/relationships/slide" Target="slides/slide29.xml"/><Relationship Id="rId78" Type="http://schemas.openxmlformats.org/officeDocument/2006/relationships/font" Target="fonts/Economica-regular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ebdafae2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ebdafae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88277a4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88277a4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88277a48a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88277a48a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ebdafae2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ebdafae2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88277a48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88277a4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88277a48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88277a48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ebdafae21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eebdafae21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e88277a48a_0_3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e88277a48a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88277a48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88277a48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88277a48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88277a48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ed2abf584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ed2abf584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88277a48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88277a48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88277a48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88277a48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88277a48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88277a48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88277a48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88277a48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88277a48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88277a48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88277a48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88277a48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88277a48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88277a48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eed2abf584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eed2abf584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eed2abf58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eed2abf58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ed2abf584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ed2abf584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eed2abf58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eed2abf58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eed2abf584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eed2abf584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eed2abf584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eed2abf584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eed2abf58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eed2abf58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eed2abf58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eed2abf58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eed2abf584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eed2abf58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e88277a48a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e88277a48a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eed2abf584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eed2abf584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e88277a48a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e88277a48a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eed2abf584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eed2abf584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e88277a48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e88277a48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e88277a48a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e88277a48a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e88277a48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e88277a48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ed2abf584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ed2abf584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e88277a48a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e88277a48a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e88277a48a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e88277a48a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e88277a48a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e88277a48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eba8b6cd5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eba8b6cd5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eba8b6cd5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eba8b6cd5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eba8b6cd5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eba8b6cd5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ba8b6cd5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eba8b6cd5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eba8b6cd5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eba8b6cd5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e88277a48a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e88277a48a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eba8b6cd56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eba8b6cd56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e88277a48a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e88277a48a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eba8b6cd56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eba8b6cd5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eba8b6cd5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3eba8b6cd5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e88277a48a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e88277a48a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e88277a48a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e88277a48a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e88277a48a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e88277a48a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e88277a48a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e88277a48a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e88277a48a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e88277a48a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e88277a48a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e88277a48a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eba8b6cd56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eba8b6cd56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eba8b6cd56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eba8b6cd56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e88277a48a_0_2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e88277a48a_0_2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e88277a48a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e88277a48a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eba8b6cd56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eba8b6cd56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88277a48a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e88277a48a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eba8b6cd56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eba8b6cd56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e88277a48a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3e88277a48a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e88277a48a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e88277a48a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e88277a48a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e88277a48a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e88277a48a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e88277a48a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e88277a48a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e88277a48a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e88277a48a_0_3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e88277a48a_0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eba8b6cd56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eba8b6cd56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e88277a48a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e88277a48a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e88277a48a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e88277a48a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e88277a48a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2" name="Google Shape;552;g3e88277a48a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e88277a48a_0_3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8" name="Google Shape;558;g3e88277a48a_0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1155C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1155C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Times New Roman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None/>
              <a:defRPr sz="21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56825"/>
            <a:ext cx="9144000" cy="86700"/>
          </a:xfrm>
          <a:prstGeom prst="rect">
            <a:avLst/>
          </a:prstGeom>
          <a:solidFill>
            <a:srgbClr val="1155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Calibri"/>
              <a:buNone/>
              <a:defRPr b="1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  <a:defRPr sz="1200">
                <a:latin typeface="Calibri"/>
                <a:ea typeface="Calibri"/>
                <a:cs typeface="Calibri"/>
                <a:sym typeface="Calibri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  <a:defRPr sz="1200">
                <a:latin typeface="Calibri"/>
                <a:ea typeface="Calibri"/>
                <a:cs typeface="Calibri"/>
                <a:sym typeface="Calibri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■"/>
              <a:defRPr sz="12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4200"/>
              <a:buFont typeface="Calibri"/>
              <a:buNone/>
              <a:defRPr sz="4200">
                <a:solidFill>
                  <a:srgbClr val="1C458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1.png"/><Relationship Id="rId4" Type="http://schemas.openxmlformats.org/officeDocument/2006/relationships/image" Target="../media/image2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28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25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3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373800" y="359625"/>
            <a:ext cx="8520600" cy="4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rgbClr val="1C4587"/>
                </a:solidFill>
              </a:rPr>
              <a:t>Study and Analysis of the QubiC Quantum Control Framework</a:t>
            </a:r>
            <a:r>
              <a:rPr lang="en" sz="2400">
                <a:solidFill>
                  <a:srgbClr val="1C4587"/>
                </a:solidFill>
              </a:rPr>
              <a:t> </a:t>
            </a:r>
            <a:br>
              <a:rPr lang="en" sz="2400">
                <a:solidFill>
                  <a:srgbClr val="1C4587"/>
                </a:solidFill>
              </a:rPr>
            </a:br>
            <a:endParaRPr sz="2400">
              <a:solidFill>
                <a:srgbClr val="1C4587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Summer </a:t>
            </a: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Internship Progress Presentation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 sz="2000">
                <a:latin typeface="Times New Roman"/>
                <a:ea typeface="Times New Roman"/>
                <a:cs typeface="Times New Roman"/>
                <a:sym typeface="Times New Roman"/>
              </a:rPr>
              <a:t>Guide:  Dr. Nikhil Kumar CS </a:t>
            </a:r>
            <a:endParaRPr sz="20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Presented by:  Ann Mary Roy </a:t>
            </a:r>
            <a:endParaRPr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sp>
        <p:nvSpPr>
          <p:cNvPr id="68" name="Google Shape;68;p14"/>
          <p:cNvSpPr txBox="1"/>
          <p:nvPr/>
        </p:nvSpPr>
        <p:spPr>
          <a:xfrm>
            <a:off x="509050" y="1147225"/>
            <a:ext cx="8520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1. Introduction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2. Learning Roadmap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3. QubiC Architecture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4. Software Stack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5. Compiler Flow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6. Hardware Architecture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7. RF Signal Generation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8. Source Code Analysis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9. Hardware Execution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10. Calibration Workflow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11. Experimental Results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12. Advanced Features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13. Current Understanding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14. Future Work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1 — INTRODUCTION 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1C4587"/>
                </a:solidFill>
                <a:latin typeface="Arial"/>
                <a:ea typeface="Arial"/>
                <a:cs typeface="Arial"/>
                <a:sym typeface="Arial"/>
              </a:rPr>
              <a:t>Internship Objective</a:t>
            </a:r>
            <a:endParaRPr>
              <a:solidFill>
                <a:srgbClr val="1C4587"/>
              </a:solidFill>
            </a:endParaRPr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Objectives: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Understand QubiC architecture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Study compiler flow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Analyze RFSoC execution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Execute simulation examples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Perform hardware demonstrations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Understand calibration workflows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Analyze source code modules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Expected Outcome:: </a:t>
            </a:r>
            <a:r>
              <a:rPr lang="en"/>
              <a:t>End-to-end understanding of superconducting qubit control using RFSoC. 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402600" y="1017475"/>
            <a:ext cx="8429700" cy="3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QubiC: An Open-Source FPGA-Based Control and Measurement System for Superconducting Quantum Information Processors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Quantum Program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Compiler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IR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Assembler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Pulse Generation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RFSoC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Quantum Processor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Readout &amp; Calibration</a:t>
            </a:r>
            <a:endParaRPr b="1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223975" y="18617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QubiC Overview </a:t>
            </a:r>
            <a:endParaRPr>
              <a:solidFill>
                <a:srgbClr val="1C458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Quantum Control? 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527300" y="1297925"/>
            <a:ext cx="4432800" cy="23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800">
                <a:solidFill>
                  <a:schemeClr val="dk1"/>
                </a:solidFill>
              </a:rPr>
              <a:t>Challenge</a:t>
            </a:r>
            <a:endParaRPr b="1"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>
                <a:solidFill>
                  <a:schemeClr val="dk1"/>
                </a:solidFill>
              </a:rPr>
              <a:t>Quantum processors require:</a:t>
            </a: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00">
                <a:solidFill>
                  <a:schemeClr val="dk1"/>
                </a:solidFill>
              </a:rPr>
              <a:t>Nanosecond timing</a:t>
            </a: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00">
                <a:solidFill>
                  <a:schemeClr val="dk1"/>
                </a:solidFill>
              </a:rPr>
              <a:t>Low latency</a:t>
            </a: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00">
                <a:solidFill>
                  <a:schemeClr val="dk1"/>
                </a:solidFill>
              </a:rPr>
              <a:t>Real-time feedback</a:t>
            </a:r>
            <a:endParaRPr sz="48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800">
                <a:solidFill>
                  <a:schemeClr val="dk1"/>
                </a:solidFill>
              </a:rPr>
              <a:t>Scalable control</a:t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>
                <a:solidFill>
                  <a:schemeClr val="dk1"/>
                </a:solidFill>
              </a:rPr>
              <a:t>Traditional CPUs cannot satisfy these requirements.</a:t>
            </a:r>
            <a:endParaRPr sz="4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800">
                <a:solidFill>
                  <a:schemeClr val="dk1"/>
                </a:solidFill>
              </a:rPr>
              <a:t>Solution</a:t>
            </a:r>
            <a:r>
              <a:rPr b="1" lang="en" sz="4800"/>
              <a:t> :  </a:t>
            </a:r>
            <a:r>
              <a:rPr lang="en" sz="4800">
                <a:solidFill>
                  <a:schemeClr val="dk1"/>
                </a:solidFill>
              </a:rPr>
              <a:t>FPGA-based quantum control.</a:t>
            </a:r>
            <a:endParaRPr sz="4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8000"/>
              <a:buFont typeface="Arial"/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8000"/>
              <a:buFont typeface="Arial"/>
              <a:buNone/>
            </a:pPr>
            <a:r>
              <a:t/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8000"/>
              <a:buFont typeface="Arial"/>
              <a:buNone/>
            </a:pPr>
            <a:r>
              <a:t/>
            </a:r>
            <a:endParaRPr sz="12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5815200" y="1076125"/>
            <a:ext cx="3017100" cy="17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Classical Computer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FPGA Controller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Quantum Processor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94" name="Google Shape;94;p18"/>
          <p:cNvGraphicFramePr/>
          <p:nvPr/>
        </p:nvGraphicFramePr>
        <p:xfrm>
          <a:off x="4548725" y="2830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{264BD136-440F-4FF9-99F6-342C2503599D}</a:tableStyleId>
              </a:tblPr>
              <a:tblGrid>
                <a:gridCol w="1985875"/>
                <a:gridCol w="1985875"/>
              </a:tblGrid>
              <a:tr h="399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Classical CPU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FPGA 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9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 latency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ns latency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Sequential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Parallel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9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Limited feedback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Real-time feedback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QubiC? 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593075" y="1147225"/>
            <a:ext cx="4038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QubiC is an open-source quantum control framework.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QubiC Components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Compiler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Assembler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RFSoC runtime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Calibration framework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• Hardware abstraction layer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2 — LEARNING ROADMAP 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 Internship Learning Path 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Week 1         Documentation</a:t>
            </a:r>
            <a:br>
              <a:rPr lang="en" sz="4800"/>
            </a:br>
            <a:br>
              <a:rPr lang="en" sz="4800"/>
            </a:br>
            <a:r>
              <a:rPr lang="en" sz="4800"/>
              <a:t>Week 2         Simulation Examples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/>
              <a:t>Week 3         Pulse Generation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/>
              <a:t>Week 4          Hardware Demo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/>
              <a:t>Week 5          Calibration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/>
              <a:t>Week 6          Source Code Analysis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4800"/>
              <a:t>Week 7          Advanced Features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Documentation and Resources 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Resource                                                              Contribution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QubiC Documentation                    Tutorials, APIs, notebooks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QubiC Paper (IEEE TQE 2021)      Open-source FPGA-based control system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QubiC 2.0 Paper                             RFSoC implementation and distributed processing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RF Mixing Module Paper                Upconversion/downconversion design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HardwareDemo Notebook              Hardware execution workflow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Calibration Notebooks                    Rabi, Ramsey, Chevron experiments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Practical Work Completed </a:t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                                                     Status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QubiC Installation                       ✓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Part1 Notebook                          ✓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HardwareDemo                          ✓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Calibration Notebook                  ✓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Features                    ✓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 Code Analysis                ✓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3 — SOFTWARE STACK &amp; EXECUTION FLOW </a:t>
            </a:r>
            <a:endParaRPr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QubiC Software Stack 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47225"/>
            <a:ext cx="6362400" cy="31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br>
              <a:rPr lang="en" sz="4800"/>
            </a:br>
            <a:r>
              <a:rPr lang="en" sz="4800"/>
              <a:t>OpenQASM</a:t>
            </a:r>
            <a:br>
              <a:rPr lang="en" sz="4800"/>
            </a:br>
            <a:r>
              <a:rPr lang="en" sz="4800"/>
              <a:t>↓</a:t>
            </a:r>
            <a:br>
              <a:rPr lang="en" sz="4800"/>
            </a:br>
            <a:r>
              <a:rPr lang="en" sz="4800"/>
              <a:t>High Level Program</a:t>
            </a:r>
            <a:br>
              <a:rPr lang="en" sz="4800"/>
            </a:br>
            <a:r>
              <a:rPr lang="en" sz="4800"/>
              <a:t>↓</a:t>
            </a:r>
            <a:br>
              <a:rPr lang="en" sz="4800"/>
            </a:br>
            <a:r>
              <a:rPr lang="en" sz="4800"/>
              <a:t>Compiler</a:t>
            </a:r>
            <a:br>
              <a:rPr lang="en" sz="4800"/>
            </a:br>
            <a:r>
              <a:rPr lang="en" sz="4800"/>
              <a:t>↓</a:t>
            </a:r>
            <a:br>
              <a:rPr lang="en" sz="4800"/>
            </a:br>
            <a:r>
              <a:rPr lang="en" sz="4800"/>
              <a:t>IR</a:t>
            </a:r>
            <a:br>
              <a:rPr lang="en" sz="4800"/>
            </a:br>
            <a:r>
              <a:rPr lang="en" sz="4800"/>
              <a:t>↓</a:t>
            </a:r>
            <a:br>
              <a:rPr lang="en" sz="4800"/>
            </a:br>
            <a:r>
              <a:rPr lang="en" sz="4800"/>
              <a:t>Assembler</a:t>
            </a:r>
            <a:br>
              <a:rPr lang="en" sz="4800"/>
            </a:br>
            <a:r>
              <a:rPr lang="en" sz="4800"/>
              <a:t>↓</a:t>
            </a:r>
            <a:br>
              <a:rPr lang="en" sz="4800"/>
            </a:br>
            <a:r>
              <a:rPr lang="en" sz="4800"/>
              <a:t>Binary Instructions</a:t>
            </a:r>
            <a:br>
              <a:rPr lang="en" sz="4800"/>
            </a:br>
            <a:r>
              <a:rPr lang="en" sz="4800"/>
              <a:t>↓</a:t>
            </a:r>
            <a:br>
              <a:rPr lang="en" sz="4800"/>
            </a:br>
            <a:r>
              <a:rPr lang="en" sz="4800"/>
              <a:t>RFSoC</a:t>
            </a:r>
            <a:br>
              <a:rPr lang="en" sz="4800"/>
            </a:br>
            <a:r>
              <a:rPr lang="en" sz="4800"/>
              <a:t>↓</a:t>
            </a:r>
            <a:br>
              <a:rPr lang="en" sz="4800"/>
            </a:br>
            <a:r>
              <a:rPr lang="en" sz="4800"/>
              <a:t>Qubit</a:t>
            </a:r>
            <a:endParaRPr sz="48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5"/>
          <p:cNvSpPr/>
          <p:nvPr/>
        </p:nvSpPr>
        <p:spPr>
          <a:xfrm>
            <a:off x="3043350" y="1280600"/>
            <a:ext cx="899100" cy="328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" name="Google Shape;138;p25"/>
          <p:cNvSpPr/>
          <p:nvPr/>
        </p:nvSpPr>
        <p:spPr>
          <a:xfrm>
            <a:off x="2823000" y="2103651"/>
            <a:ext cx="1339800" cy="873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2940575" y="3471200"/>
            <a:ext cx="1230300" cy="616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OpenQASM Programming </a:t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reset q[0];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x q[0];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measure q[0];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Learned</a:t>
            </a:r>
            <a:endParaRPr b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Quantum gates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Delays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Loops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Measurement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QubiC Intermediate Representation </a:t>
            </a:r>
            <a:endParaRPr/>
          </a:p>
        </p:txBody>
      </p:sp>
      <p:sp>
        <p:nvSpPr>
          <p:cNvPr id="151" name="Google Shape;151;p27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Why Needed?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Acts as bridge: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High-Level Program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↓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Hardware Instructions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Features: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Pulse operations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Loops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Branches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Arithmetic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/>
            </a:b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Compiler Flow </a:t>
            </a:r>
            <a:endParaRPr/>
          </a:p>
        </p:txBody>
      </p:sp>
      <p:sp>
        <p:nvSpPr>
          <p:cNvPr id="157" name="Google Shape;157;p28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run_compile_stage()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run_assemble_stage()</a:t>
            </a:r>
            <a:br>
              <a:rPr lang="en"/>
            </a:br>
            <a:br>
              <a:rPr lang="en"/>
            </a:br>
            <a:br>
              <a:rPr lang="en"/>
            </a:br>
            <a:r>
              <a:rPr lang="en"/>
              <a:t>Input: OpenQASM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Output: Assembly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Assembly Generation </a:t>
            </a:r>
            <a:endParaRPr/>
          </a:p>
        </p:txBody>
      </p:sp>
      <p:sp>
        <p:nvSpPr>
          <p:cNvPr id="163" name="Google Shape;163;p29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</a:t>
            </a:r>
            <a:r>
              <a:rPr b="1" lang="en" sz="1300"/>
              <a:t>nstruction Types 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pulse_write_trig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pulse_write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reg_alu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jump_cond</a:t>
            </a:r>
            <a:endParaRPr sz="1300"/>
          </a:p>
          <a:p>
            <a:pPr indent="-3111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jump_fproc</a:t>
            </a:r>
            <a:endParaRPr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>
            <p:ph type="title"/>
          </p:nvPr>
        </p:nvSpPr>
        <p:spPr>
          <a:xfrm>
            <a:off x="373800" y="344150"/>
            <a:ext cx="8520600" cy="174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4 — HARDWARE ARCHITECTURE 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69" name="Google Shape;169;p30"/>
          <p:cNvSpPr txBox="1"/>
          <p:nvPr>
            <p:ph idx="1" type="body"/>
          </p:nvPr>
        </p:nvSpPr>
        <p:spPr>
          <a:xfrm>
            <a:off x="373800" y="1236750"/>
            <a:ext cx="8520600" cy="31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QubiC Hardware Architecture </a:t>
            </a:r>
            <a:endParaRPr/>
          </a:p>
        </p:txBody>
      </p:sp>
      <p:sp>
        <p:nvSpPr>
          <p:cNvPr id="175" name="Google Shape;175;p31"/>
          <p:cNvSpPr txBox="1"/>
          <p:nvPr>
            <p:ph idx="1" type="body"/>
          </p:nvPr>
        </p:nvSpPr>
        <p:spPr>
          <a:xfrm>
            <a:off x="571175" y="1147225"/>
            <a:ext cx="4717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8"/>
              <a:buFont typeface="Arial"/>
              <a:buNone/>
            </a:pPr>
            <a:r>
              <a:rPr b="1" lang="en" sz="4800"/>
              <a:t>Host PC</a:t>
            </a:r>
            <a:br>
              <a:rPr b="1" lang="en" sz="4800"/>
            </a:br>
            <a:r>
              <a:rPr b="1" lang="en" sz="4800"/>
              <a:t>↓</a:t>
            </a:r>
            <a:br>
              <a:rPr b="1" lang="en" sz="4800"/>
            </a:br>
            <a:r>
              <a:rPr b="1" lang="en" sz="4800"/>
              <a:t>FPGA</a:t>
            </a:r>
            <a:br>
              <a:rPr b="1" lang="en" sz="4800"/>
            </a:br>
            <a:r>
              <a:rPr b="1" lang="en" sz="4800"/>
              <a:t>↓</a:t>
            </a:r>
            <a:br>
              <a:rPr b="1" lang="en" sz="4800"/>
            </a:br>
            <a:r>
              <a:rPr b="1" lang="en" sz="4800"/>
              <a:t>DAC</a:t>
            </a:r>
            <a:br>
              <a:rPr b="1" lang="en" sz="4800"/>
            </a:br>
            <a:r>
              <a:rPr b="1" lang="en" sz="4800"/>
              <a:t>↓</a:t>
            </a:r>
            <a:br>
              <a:rPr b="1" lang="en" sz="4800"/>
            </a:br>
            <a:r>
              <a:rPr b="1" lang="en" sz="4800"/>
              <a:t>RF Mixer</a:t>
            </a:r>
            <a:br>
              <a:rPr b="1" lang="en" sz="4800"/>
            </a:br>
            <a:r>
              <a:rPr b="1" lang="en" sz="4800"/>
              <a:t>↓</a:t>
            </a:r>
            <a:br>
              <a:rPr b="1" lang="en" sz="4800"/>
            </a:br>
            <a:r>
              <a:rPr b="1" lang="en" sz="4800"/>
              <a:t>Quantum Processor</a:t>
            </a:r>
            <a:br>
              <a:rPr b="1" lang="en" sz="4800"/>
            </a:br>
            <a:r>
              <a:rPr b="1" lang="en" sz="4800"/>
              <a:t>↓</a:t>
            </a:r>
            <a:br>
              <a:rPr b="1" lang="en" sz="4800"/>
            </a:br>
            <a:r>
              <a:rPr b="1" lang="en" sz="4800"/>
              <a:t>ADC</a:t>
            </a:r>
            <a:br>
              <a:rPr b="1" lang="en" sz="4800"/>
            </a:br>
            <a:r>
              <a:rPr b="1" lang="en" sz="4800"/>
              <a:t>↓</a:t>
            </a:r>
            <a:br>
              <a:rPr b="1" lang="en" sz="4800"/>
            </a:br>
            <a:r>
              <a:rPr b="1" lang="en" sz="4800"/>
              <a:t>Host PC</a:t>
            </a:r>
            <a:endParaRPr b="1" sz="48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76" name="Google Shape;176;p31" title="Screenshot 2026-06-12 0115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1600" y="1147229"/>
            <a:ext cx="3900000" cy="3643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QubiC Hardware Architecture </a:t>
            </a:r>
            <a:endParaRPr/>
          </a:p>
        </p:txBody>
      </p:sp>
      <p:sp>
        <p:nvSpPr>
          <p:cNvPr id="182" name="Google Shape;182;p32"/>
          <p:cNvSpPr txBox="1"/>
          <p:nvPr>
            <p:ph idx="1" type="body"/>
          </p:nvPr>
        </p:nvSpPr>
        <p:spPr>
          <a:xfrm>
            <a:off x="373800" y="1076125"/>
            <a:ext cx="592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QubiC provides a complete hardware platform for control and readout of superconducting qubits. </a:t>
            </a:r>
            <a:br>
              <a:rPr lang="en"/>
            </a:br>
            <a:br>
              <a:rPr lang="en"/>
            </a:br>
            <a:r>
              <a:rPr b="1" lang="en" sz="1300">
                <a:latin typeface="Arial"/>
                <a:ea typeface="Arial"/>
                <a:cs typeface="Arial"/>
                <a:sym typeface="Arial"/>
              </a:rPr>
              <a:t>Major Components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FPGA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– Executes compiled instructions and controls pulse generation.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DAC/ADC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– Convert digital signals to analog RF signals and vice versa.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UP (Upconverter)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– Generates RF control pulses for qubit manipulation.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DN (Downconverter)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– Processes measurement signals from qubits.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LO (Local Oscillator)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– Provides reference frequencies for frequency conversion.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MO (Master Oscillator)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– Ensures synchronization across the system.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b="1" lang="en" sz="1100">
                <a:latin typeface="Arial"/>
                <a:ea typeface="Arial"/>
                <a:cs typeface="Arial"/>
                <a:sym typeface="Arial"/>
              </a:rPr>
              <a:t>QPU (Quantum Processing Unit)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– Contains superconducting qubits.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32" title="Screenshot 2026-06-12 0115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4362" y="1293477"/>
            <a:ext cx="3589639" cy="335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QubiC Hardware Architecture </a:t>
            </a:r>
            <a:endParaRPr/>
          </a:p>
        </p:txBody>
      </p:sp>
      <p:sp>
        <p:nvSpPr>
          <p:cNvPr id="189" name="Google Shape;189;p33"/>
          <p:cNvSpPr txBox="1"/>
          <p:nvPr>
            <p:ph idx="1" type="body"/>
          </p:nvPr>
        </p:nvSpPr>
        <p:spPr>
          <a:xfrm>
            <a:off x="527300" y="1147225"/>
            <a:ext cx="4367100" cy="32085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Qubit control path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FPGA         →        DAC      →      Upconverter  →      QPU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/>
              <a:t>Measurement path</a:t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QPU      →       Downconverte r        →       ADC      →      FPGA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33"/>
          <p:cNvSpPr/>
          <p:nvPr/>
        </p:nvSpPr>
        <p:spPr>
          <a:xfrm>
            <a:off x="2416475" y="1584400"/>
            <a:ext cx="921000" cy="332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33"/>
          <p:cNvSpPr/>
          <p:nvPr/>
        </p:nvSpPr>
        <p:spPr>
          <a:xfrm>
            <a:off x="3577550" y="1584400"/>
            <a:ext cx="636000" cy="241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33"/>
          <p:cNvSpPr/>
          <p:nvPr/>
        </p:nvSpPr>
        <p:spPr>
          <a:xfrm>
            <a:off x="1471875" y="1584400"/>
            <a:ext cx="636000" cy="241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3" name="Google Shape;193;p33"/>
          <p:cNvSpPr/>
          <p:nvPr/>
        </p:nvSpPr>
        <p:spPr>
          <a:xfrm>
            <a:off x="527300" y="1584400"/>
            <a:ext cx="636000" cy="2412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4" name="Google Shape;194;p33"/>
          <p:cNvSpPr/>
          <p:nvPr/>
        </p:nvSpPr>
        <p:spPr>
          <a:xfrm>
            <a:off x="1471875" y="3050325"/>
            <a:ext cx="1185300" cy="432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5" name="Google Shape;195;p33"/>
          <p:cNvSpPr/>
          <p:nvPr/>
        </p:nvSpPr>
        <p:spPr>
          <a:xfrm>
            <a:off x="527300" y="3100425"/>
            <a:ext cx="636000" cy="332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6" name="Google Shape;196;p33"/>
          <p:cNvSpPr/>
          <p:nvPr/>
        </p:nvSpPr>
        <p:spPr>
          <a:xfrm>
            <a:off x="2965738" y="3050325"/>
            <a:ext cx="747600" cy="332100"/>
          </a:xfrm>
          <a:prstGeom prst="roundRect">
            <a:avLst>
              <a:gd fmla="val 10872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33"/>
          <p:cNvSpPr/>
          <p:nvPr/>
        </p:nvSpPr>
        <p:spPr>
          <a:xfrm>
            <a:off x="3817650" y="3000225"/>
            <a:ext cx="747600" cy="4323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33"/>
          <p:cNvSpPr txBox="1"/>
          <p:nvPr/>
        </p:nvSpPr>
        <p:spPr>
          <a:xfrm>
            <a:off x="5069775" y="1046250"/>
            <a:ext cx="3082800" cy="30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Compiler Output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FPGA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DAC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Upconverter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QPU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Downconverter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ADC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Measurement Result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Evolution of QubiC </a:t>
            </a:r>
            <a:endParaRPr/>
          </a:p>
        </p:txBody>
      </p:sp>
      <p:sp>
        <p:nvSpPr>
          <p:cNvPr id="204" name="Google Shape;204;p34"/>
          <p:cNvSpPr txBox="1"/>
          <p:nvPr>
            <p:ph idx="1" type="body"/>
          </p:nvPr>
        </p:nvSpPr>
        <p:spPr>
          <a:xfrm>
            <a:off x="373800" y="1076125"/>
            <a:ext cx="4345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QubiC 1.0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From the IEEE paper: FPGA-based open-source control system using VC707 FPGA + FMC120 ADC/DAC boards.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VC707 FPGA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FMC120 ADC/DAC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RF Mixing Modules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Local Oscillator System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4" title="Screenshot 2026-06-12 01155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1475" y="1076125"/>
            <a:ext cx="3950829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Evolution of QubiC </a:t>
            </a:r>
            <a:endParaRPr/>
          </a:p>
        </p:txBody>
      </p:sp>
      <p:sp>
        <p:nvSpPr>
          <p:cNvPr id="211" name="Google Shape;211;p35"/>
          <p:cNvSpPr txBox="1"/>
          <p:nvPr>
            <p:ph idx="1" type="body"/>
          </p:nvPr>
        </p:nvSpPr>
        <p:spPr>
          <a:xfrm>
            <a:off x="373800" y="1076125"/>
            <a:ext cx="2586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QubiC 2.0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From QubiC 2.0 paper.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Xilinx ZCU216 RFSoC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Integrated DAC/ADC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Distributed Processor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Mid-Circuit Measurement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Feed Forward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Multi-FPGA Synchronization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2" name="Google Shape;212;p35" title="Screenshot 2026-06-12 0118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8150" y="1147225"/>
            <a:ext cx="2585875" cy="362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35" title="Screenshot 2026-06-12 0119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1850" y="1655275"/>
            <a:ext cx="2652750" cy="21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Why RFSoC? </a:t>
            </a:r>
            <a:endParaRPr/>
          </a:p>
        </p:txBody>
      </p:sp>
      <p:sp>
        <p:nvSpPr>
          <p:cNvPr id="219" name="Google Shape;219;p36"/>
          <p:cNvSpPr txBox="1"/>
          <p:nvPr>
            <p:ph idx="1" type="body"/>
          </p:nvPr>
        </p:nvSpPr>
        <p:spPr>
          <a:xfrm>
            <a:off x="373800" y="1076125"/>
            <a:ext cx="5178300" cy="17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Traditional FPGA + ADC/DAC            RFSoC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boards                                     Single chip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latency                                       Lower latency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cables                                          Integrated solution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Difficult synchronization                        Easier synchronization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Larger footprint                                     Compact</a:t>
            </a:r>
            <a:endParaRPr/>
          </a:p>
        </p:txBody>
      </p:sp>
      <p:sp>
        <p:nvSpPr>
          <p:cNvPr id="220" name="Google Shape;220;p36"/>
          <p:cNvSpPr txBox="1"/>
          <p:nvPr/>
        </p:nvSpPr>
        <p:spPr>
          <a:xfrm>
            <a:off x="311700" y="38681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QubiC 2.0 migrated to the Xilinx ZCU216 RFSoC platform to achieve integrated high-speed DAC/ADC functionality, reduced latency, improved synchronization, and support for real-time quantum feedback.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1" name="Google Shape;221;p36" title="Screenshot 2026-06-12 0142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2100" y="640875"/>
            <a:ext cx="2719075" cy="287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Gateware Architecture </a:t>
            </a:r>
            <a:endParaRPr/>
          </a:p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596775" y="1471046"/>
            <a:ext cx="2700600" cy="22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PYNQ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AXI Interconnect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DSP Blocks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RF Data Converter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Distributed Processor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7" title="Screenshot 2026-06-12 0118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6150" y="1147225"/>
            <a:ext cx="3157625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Distributed Processor Architecture </a:t>
            </a:r>
            <a:endParaRPr/>
          </a:p>
        </p:txBody>
      </p:sp>
      <p:sp>
        <p:nvSpPr>
          <p:cNvPr id="234" name="Google Shape;234;p38"/>
          <p:cNvSpPr txBox="1"/>
          <p:nvPr>
            <p:ph idx="1" type="body"/>
          </p:nvPr>
        </p:nvSpPr>
        <p:spPr>
          <a:xfrm>
            <a:off x="549225" y="1295425"/>
            <a:ext cx="3270600" cy="176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One processor per qubit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Parallel execution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Real-time branching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Feed-forward capability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38" title="Screenshot 2026-06-12 01463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9825" y="1295425"/>
            <a:ext cx="4791086" cy="3395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RF Signal Generation Chain </a:t>
            </a:r>
            <a:endParaRPr/>
          </a:p>
        </p:txBody>
      </p:sp>
      <p:pic>
        <p:nvPicPr>
          <p:cNvPr id="241" name="Google Shape;241;p39" title="Screenshot 2026-06-12 0147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5600" y="1147225"/>
            <a:ext cx="3947800" cy="358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5 — SOURCE CODE ANALYSIS </a:t>
            </a:r>
            <a:endParaRPr/>
          </a:p>
        </p:txBody>
      </p:sp>
      <p:sp>
        <p:nvSpPr>
          <p:cNvPr id="247" name="Google Shape;247;p40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 Code Analysis Overview </a:t>
            </a:r>
            <a:endParaRPr/>
          </a:p>
        </p:txBody>
      </p:sp>
      <p:sp>
        <p:nvSpPr>
          <p:cNvPr id="253" name="Google Shape;253;p41"/>
          <p:cNvSpPr txBox="1"/>
          <p:nvPr>
            <p:ph idx="1" type="body"/>
          </p:nvPr>
        </p:nvSpPr>
        <p:spPr>
          <a:xfrm>
            <a:off x="491750" y="1695325"/>
            <a:ext cx="5038500" cy="23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Modules Studied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                                              Purpose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toolchain.py                          Compilation pipeline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pulse_factory.py                   Pulse generation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rpc_client.py                        Host-to-hardware communication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soc_rpc_server.py                RFSoC server execution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1"/>
          <p:cNvSpPr txBox="1"/>
          <p:nvPr/>
        </p:nvSpPr>
        <p:spPr>
          <a:xfrm>
            <a:off x="491750" y="1147225"/>
            <a:ext cx="8520600" cy="5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understand how QubiC converts a quantum program into executable instructions and communicates with the RFSoC hardware.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41"/>
          <p:cNvSpPr txBox="1"/>
          <p:nvPr/>
        </p:nvSpPr>
        <p:spPr>
          <a:xfrm>
            <a:off x="5530250" y="2070000"/>
            <a:ext cx="2653200" cy="27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OpenQASM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toolchain.py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Assembly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pulse_factory.py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rpc_client.py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soc_rpc_server.py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RFSoC Hardware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toolchain.py </a:t>
            </a:r>
            <a:endParaRPr/>
          </a:p>
        </p:txBody>
      </p:sp>
      <p:sp>
        <p:nvSpPr>
          <p:cNvPr id="261" name="Google Shape;261;p42"/>
          <p:cNvSpPr txBox="1"/>
          <p:nvPr>
            <p:ph idx="1" type="body"/>
          </p:nvPr>
        </p:nvSpPr>
        <p:spPr>
          <a:xfrm>
            <a:off x="483425" y="1076125"/>
            <a:ext cx="5836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Purpose:</a:t>
            </a:r>
            <a:r>
              <a:rPr b="1" lang="en" sz="1250">
                <a:solidFill>
                  <a:schemeClr val="dk1"/>
                </a:solidFill>
              </a:rPr>
              <a:t> </a:t>
            </a:r>
            <a:r>
              <a:rPr lang="en" sz="1250">
                <a:solidFill>
                  <a:schemeClr val="dk1"/>
                </a:solidFill>
              </a:rPr>
              <a:t>Core compilation module responsible for transforming OpenQASM programs into executable assembly instructions.</a:t>
            </a:r>
            <a:r>
              <a:rPr b="1" lang="en" sz="1250">
                <a:solidFill>
                  <a:schemeClr val="dk1"/>
                </a:solidFill>
              </a:rPr>
              <a:t> </a:t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/>
              <a:t>Functions Studied:</a:t>
            </a:r>
            <a:br>
              <a:rPr b="1" lang="en" sz="1300"/>
            </a:br>
            <a:br>
              <a:rPr lang="en" sz="1100"/>
            </a:br>
            <a:r>
              <a:rPr lang="en" sz="1308"/>
              <a:t>run_compile_stage()</a:t>
            </a:r>
            <a:br>
              <a:rPr lang="en" sz="1308"/>
            </a:br>
            <a:r>
              <a:rPr lang="en" sz="1308"/>
              <a:t>run_assemble_stage()</a:t>
            </a:r>
            <a:br>
              <a:rPr lang="en" sz="1308"/>
            </a:br>
            <a:r>
              <a:rPr lang="en" sz="1308"/>
              <a:t>compile_program()</a:t>
            </a:r>
            <a:endParaRPr sz="1308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Key Learning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Compiler workflow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Program scheduling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Instruction generation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Hardware abstraction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2"/>
          <p:cNvSpPr txBox="1"/>
          <p:nvPr/>
        </p:nvSpPr>
        <p:spPr>
          <a:xfrm>
            <a:off x="5727625" y="1415575"/>
            <a:ext cx="2885400" cy="26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Compilation Pipeline</a:t>
            </a:r>
            <a:endParaRPr b="1" sz="1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OpenQASM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Parsing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IR Generation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Scheduling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Assembly Generation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Assembly Instruction Generation </a:t>
            </a:r>
            <a:endParaRPr/>
          </a:p>
        </p:txBody>
      </p:sp>
      <p:sp>
        <p:nvSpPr>
          <p:cNvPr id="268" name="Google Shape;268;p43"/>
          <p:cNvSpPr txBox="1"/>
          <p:nvPr>
            <p:ph idx="1" type="body"/>
          </p:nvPr>
        </p:nvSpPr>
        <p:spPr>
          <a:xfrm>
            <a:off x="373800" y="1076125"/>
            <a:ext cx="5836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assembler converts IR operations into instructions executed by distributed processors. </a:t>
            </a:r>
            <a:br>
              <a:rPr lang="en"/>
            </a:br>
            <a:br>
              <a:rPr lang="en"/>
            </a:br>
            <a:r>
              <a:rPr b="1" lang="en" sz="1300"/>
              <a:t>Function of Instructions </a:t>
            </a:r>
            <a:br>
              <a:rPr b="1" lang="en" sz="1300"/>
            </a:br>
            <a:br>
              <a:rPr b="1" lang="en" sz="1300"/>
            </a:b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Instruction                                      Purpose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pulse_write                       Generate waveform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pulse_write_trig                Trigger pulse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reg_alu                            Register arithmetic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jump_cond                       Conditional branch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jump_fproc                       Feedback processing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300"/>
          </a:p>
        </p:txBody>
      </p:sp>
      <p:sp>
        <p:nvSpPr>
          <p:cNvPr id="269" name="Google Shape;269;p43"/>
          <p:cNvSpPr txBox="1"/>
          <p:nvPr/>
        </p:nvSpPr>
        <p:spPr>
          <a:xfrm>
            <a:off x="6736300" y="1214825"/>
            <a:ext cx="18420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Flow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IR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Assembler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Assembly Program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Distributed Processor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pulse_factory.py </a:t>
            </a:r>
            <a:endParaRPr/>
          </a:p>
        </p:txBody>
      </p:sp>
      <p:sp>
        <p:nvSpPr>
          <p:cNvPr id="275" name="Google Shape;275;p44"/>
          <p:cNvSpPr txBox="1"/>
          <p:nvPr>
            <p:ph idx="1" type="body"/>
          </p:nvPr>
        </p:nvSpPr>
        <p:spPr>
          <a:xfrm>
            <a:off x="461500" y="1147225"/>
            <a:ext cx="5397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Purpose : </a:t>
            </a:r>
            <a:r>
              <a:rPr lang="en">
                <a:solidFill>
                  <a:schemeClr val="dk1"/>
                </a:solidFill>
              </a:rPr>
              <a:t>Generates waveform envelopes used for quantum control pulses.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Pulse Types Studied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Gaussian Pulse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DRAG Pulse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Square Pulse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Why Needed?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Different pulse shapes reduce gate errors and improve qubit fidelity.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b="1" lang="en">
                <a:latin typeface="Arial"/>
                <a:ea typeface="Arial"/>
                <a:cs typeface="Arial"/>
                <a:sym typeface="Arial"/>
              </a:rPr>
              <a:t>Key Learning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Pulse shaping directly affects quantum gate performance. </a:t>
            </a:r>
            <a:endParaRPr sz="1300"/>
          </a:p>
        </p:txBody>
      </p:sp>
      <p:sp>
        <p:nvSpPr>
          <p:cNvPr id="276" name="Google Shape;276;p44"/>
          <p:cNvSpPr txBox="1"/>
          <p:nvPr/>
        </p:nvSpPr>
        <p:spPr>
          <a:xfrm>
            <a:off x="5898300" y="1189350"/>
            <a:ext cx="2934000" cy="27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Pulse Generation Flow </a:t>
            </a:r>
            <a:b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Gate Operation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Pulse Factory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Waveform Samples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DAC Output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rpc_client.py</a:t>
            </a:r>
            <a:endParaRPr/>
          </a:p>
        </p:txBody>
      </p:sp>
      <p:sp>
        <p:nvSpPr>
          <p:cNvPr id="282" name="Google Shape;282;p45"/>
          <p:cNvSpPr txBox="1"/>
          <p:nvPr>
            <p:ph idx="1" type="body"/>
          </p:nvPr>
        </p:nvSpPr>
        <p:spPr>
          <a:xfrm>
            <a:off x="421325" y="1201250"/>
            <a:ext cx="5375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Purpose:  </a:t>
            </a:r>
            <a:r>
              <a:rPr lang="en">
                <a:solidFill>
                  <a:schemeClr val="dk1"/>
                </a:solidFill>
              </a:rPr>
              <a:t>Provides communication between the host computer and RFSoC hardware. 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b="1" lang="en"/>
              <a:t>Functions</a:t>
            </a:r>
            <a:endParaRPr b="1"/>
          </a:p>
          <a:p>
            <a:pPr indent="-299085" lvl="0" marL="457200" rtl="0" algn="l">
              <a:spcBef>
                <a:spcPts val="120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"/>
              <a:t>Upload instructions</a:t>
            </a:r>
            <a:endParaRPr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"/>
              <a:t>Configure experiments</a:t>
            </a:r>
            <a:endParaRPr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"/>
              <a:t>Trigger execution</a:t>
            </a:r>
            <a:endParaRPr/>
          </a:p>
          <a:p>
            <a:pPr indent="-299085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"/>
              <a:t>Retrieve results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250">
                <a:latin typeface="Arial"/>
                <a:ea typeface="Arial"/>
                <a:cs typeface="Arial"/>
                <a:sym typeface="Arial"/>
              </a:rPr>
              <a:t>Key Learning</a:t>
            </a:r>
            <a:endParaRPr b="1"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latin typeface="Arial"/>
                <a:ea typeface="Arial"/>
                <a:cs typeface="Arial"/>
                <a:sym typeface="Arial"/>
              </a:rPr>
              <a:t>RPC enables remote control of quantum hardware.</a:t>
            </a:r>
            <a:endParaRPr sz="1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45"/>
          <p:cNvSpPr txBox="1"/>
          <p:nvPr/>
        </p:nvSpPr>
        <p:spPr>
          <a:xfrm>
            <a:off x="5964000" y="1631450"/>
            <a:ext cx="28683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Communication Flow</a:t>
            </a: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b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Host PC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RPC Client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Network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RFSoC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soc_rpc_server.py </a:t>
            </a:r>
            <a:endParaRPr/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373800" y="1076125"/>
            <a:ext cx="6450300" cy="314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Purpose : </a:t>
            </a:r>
            <a:r>
              <a:rPr lang="en" sz="1300">
                <a:solidFill>
                  <a:schemeClr val="dk1"/>
                </a:solidFill>
              </a:rPr>
              <a:t>Runs on RFSoC and executes commands received from the host system.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Responsibilities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Receive instructions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Configure hardware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Execute experiments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Return measurements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Key Learning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This module forms the interface between software and hardware execution.</a:t>
            </a:r>
            <a:endParaRPr/>
          </a:p>
        </p:txBody>
      </p:sp>
      <p:sp>
        <p:nvSpPr>
          <p:cNvPr id="290" name="Google Shape;290;p46"/>
          <p:cNvSpPr txBox="1"/>
          <p:nvPr/>
        </p:nvSpPr>
        <p:spPr>
          <a:xfrm>
            <a:off x="6451225" y="1192875"/>
            <a:ext cx="2170800" cy="32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Execution Flow </a:t>
            </a:r>
            <a:br>
              <a:rPr b="1" lang="en" sz="1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RPC Request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Server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Hardware Execution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Measurement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   ↓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  Response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7"/>
          <p:cNvSpPr txBox="1"/>
          <p:nvPr>
            <p:ph type="title"/>
          </p:nvPr>
        </p:nvSpPr>
        <p:spPr>
          <a:xfrm>
            <a:off x="311700" y="2448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End-to-End Source Code Workflow </a:t>
            </a:r>
            <a:endParaRPr/>
          </a:p>
        </p:txBody>
      </p:sp>
      <p:sp>
        <p:nvSpPr>
          <p:cNvPr id="296" name="Google Shape;296;p47"/>
          <p:cNvSpPr txBox="1"/>
          <p:nvPr>
            <p:ph idx="1" type="body"/>
          </p:nvPr>
        </p:nvSpPr>
        <p:spPr>
          <a:xfrm>
            <a:off x="373800" y="1076125"/>
            <a:ext cx="87702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/>
              <a:t>OpenQASM Program</a:t>
            </a:r>
            <a:br>
              <a:rPr b="1" lang="en" sz="1000"/>
            </a:br>
            <a:r>
              <a:rPr b="1" lang="en" sz="1000"/>
              <a:t>↓</a:t>
            </a:r>
            <a:br>
              <a:rPr b="1" lang="en" sz="1000"/>
            </a:br>
            <a:r>
              <a:rPr b="1" lang="en" sz="1000"/>
              <a:t>toolchain.py</a:t>
            </a:r>
            <a:br>
              <a:rPr b="1" lang="en" sz="1000"/>
            </a:br>
            <a:r>
              <a:rPr b="1" lang="en" sz="1000"/>
              <a:t> ↓</a:t>
            </a:r>
            <a:br>
              <a:rPr b="1" lang="en" sz="1000"/>
            </a:br>
            <a:r>
              <a:rPr b="1" lang="en" sz="1000"/>
              <a:t>IR</a:t>
            </a:r>
            <a:br>
              <a:rPr b="1" lang="en" sz="1000"/>
            </a:br>
            <a:r>
              <a:rPr b="1" lang="en" sz="1000"/>
              <a:t>↓</a:t>
            </a:r>
            <a:br>
              <a:rPr b="1" lang="en" sz="1000"/>
            </a:br>
            <a:r>
              <a:rPr b="1" lang="en" sz="1000"/>
              <a:t>Assembly</a:t>
            </a:r>
            <a:br>
              <a:rPr b="1" lang="en" sz="1000"/>
            </a:br>
            <a:r>
              <a:rPr b="1" lang="en" sz="1000"/>
              <a:t>↓</a:t>
            </a:r>
            <a:br>
              <a:rPr b="1" lang="en" sz="1000"/>
            </a:br>
            <a:r>
              <a:rPr b="1" lang="en" sz="1000"/>
              <a:t>Pulse_factory.py</a:t>
            </a:r>
            <a:br>
              <a:rPr b="1" lang="en" sz="1000"/>
            </a:br>
            <a:r>
              <a:rPr b="1" lang="en" sz="1000"/>
              <a:t>↓</a:t>
            </a:r>
            <a:br>
              <a:rPr b="1" lang="en" sz="1000"/>
            </a:br>
            <a:r>
              <a:rPr b="1" lang="en" sz="1000"/>
              <a:t>Waveforms</a:t>
            </a:r>
            <a:br>
              <a:rPr b="1" lang="en" sz="1000"/>
            </a:br>
            <a:r>
              <a:rPr b="1" lang="en" sz="1000"/>
              <a:t>↓</a:t>
            </a:r>
            <a:br>
              <a:rPr b="1" lang="en" sz="1000"/>
            </a:br>
            <a:r>
              <a:rPr b="1" lang="en" sz="1000"/>
              <a:t>Rpc_client.py</a:t>
            </a:r>
            <a:br>
              <a:rPr b="1" lang="en" sz="1000"/>
            </a:br>
            <a:r>
              <a:rPr b="1" lang="en" sz="1000"/>
              <a:t>↓</a:t>
            </a:r>
            <a:br>
              <a:rPr b="1" lang="en" sz="1000"/>
            </a:br>
            <a:r>
              <a:rPr b="1" lang="en" sz="1000"/>
              <a:t>Soc_rpc_server.py</a:t>
            </a:r>
            <a:br>
              <a:rPr b="1" lang="en" sz="1000"/>
            </a:br>
            <a:r>
              <a:rPr b="1" lang="en" sz="1000"/>
              <a:t> ↓</a:t>
            </a:r>
            <a:br>
              <a:rPr b="1" lang="en" sz="1000"/>
            </a:br>
            <a:r>
              <a:rPr b="1" lang="en" sz="1000"/>
              <a:t>RFSoC</a:t>
            </a:r>
            <a:br>
              <a:rPr b="1" lang="en" sz="1000"/>
            </a:br>
            <a:r>
              <a:rPr b="1" lang="en" sz="1000"/>
              <a:t>↓</a:t>
            </a:r>
            <a:br>
              <a:rPr b="1" lang="en" sz="1000"/>
            </a:br>
            <a:r>
              <a:rPr b="1" lang="en" sz="1000"/>
              <a:t>Qubit       </a:t>
            </a:r>
            <a:br>
              <a:rPr b="1" lang="en" sz="1000"/>
            </a:br>
            <a:r>
              <a:rPr b="1" lang="en" sz="1000"/>
              <a:t> ↓</a:t>
            </a:r>
            <a:br>
              <a:rPr b="1" lang="en" sz="1000"/>
            </a:br>
            <a:r>
              <a:rPr b="1" lang="en" sz="1000"/>
              <a:t>Measurement Result</a:t>
            </a:r>
            <a:endParaRPr b="1" sz="10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6 — CALIBRATION FRAMEWORK </a:t>
            </a:r>
            <a:endParaRPr/>
          </a:p>
        </p:txBody>
      </p:sp>
      <p:sp>
        <p:nvSpPr>
          <p:cNvPr id="302" name="Google Shape;302;p48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Calibration? </a:t>
            </a:r>
            <a:endParaRPr/>
          </a:p>
        </p:txBody>
      </p:sp>
      <p:sp>
        <p:nvSpPr>
          <p:cNvPr id="308" name="Google Shape;308;p49"/>
          <p:cNvSpPr txBox="1"/>
          <p:nvPr>
            <p:ph idx="1" type="body"/>
          </p:nvPr>
        </p:nvSpPr>
        <p:spPr>
          <a:xfrm>
            <a:off x="373800" y="1076125"/>
            <a:ext cx="4542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Every qubit differs.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Sequential calibration process used to tune superconducting qubits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Need to determine:</a:t>
            </a:r>
            <a:endParaRPr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Frequency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Amplitude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Pulse width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Readout settings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9"/>
          <p:cNvSpPr txBox="1"/>
          <p:nvPr/>
        </p:nvSpPr>
        <p:spPr>
          <a:xfrm>
            <a:off x="464875" y="3804275"/>
            <a:ext cx="5701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Each calibration stage improves control accuracy and prepares the system for the next stage. 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p49"/>
          <p:cNvSpPr txBox="1"/>
          <p:nvPr/>
        </p:nvSpPr>
        <p:spPr>
          <a:xfrm>
            <a:off x="5837250" y="315925"/>
            <a:ext cx="2994900" cy="44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Calibration Workflow</a:t>
            </a:r>
            <a:br>
              <a:rPr b="1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Tone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Punchout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Chevron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↓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Rabi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Ramsey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DRAG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↓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CNOT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Tone &amp; Punchout Measurement</a:t>
            </a:r>
            <a:endParaRPr/>
          </a:p>
        </p:txBody>
      </p:sp>
      <p:sp>
        <p:nvSpPr>
          <p:cNvPr id="316" name="Google Shape;316;p50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Determine resonator characteristics used for qubit readout.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One-Tone Measurement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Sweeps readout frequency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Identifies resonator frequency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Punchout Measurement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Sweeps readout power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Finds optimal measurement power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Output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✓ Resonator Frequency (fr)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✓ Readout Power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One-Tone Spectroscopy </a:t>
            </a:r>
            <a:endParaRPr/>
          </a:p>
        </p:txBody>
      </p:sp>
      <p:sp>
        <p:nvSpPr>
          <p:cNvPr id="322" name="Google Shape;322;p51"/>
          <p:cNvSpPr txBox="1"/>
          <p:nvPr>
            <p:ph idx="1" type="body"/>
          </p:nvPr>
        </p:nvSpPr>
        <p:spPr>
          <a:xfrm>
            <a:off x="373800" y="1076125"/>
            <a:ext cx="3796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Purpose: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Identify resonator frequencies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Determine readout resonators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Observation: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Resonance dips appear near: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"/>
              <a:t>Q0 ≈ 6.554 GHz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"/>
              <a:t>Q1 ≈ 6.558 GHz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Output: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Readout resonator frequencies extracted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600" y="1147225"/>
            <a:ext cx="4668600" cy="3606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One-Tone Phase Response </a:t>
            </a:r>
            <a:endParaRPr/>
          </a:p>
        </p:txBody>
      </p:sp>
      <p:sp>
        <p:nvSpPr>
          <p:cNvPr id="329" name="Google Shape;329;p52"/>
          <p:cNvSpPr txBox="1"/>
          <p:nvPr>
            <p:ph idx="1" type="body"/>
          </p:nvPr>
        </p:nvSpPr>
        <p:spPr>
          <a:xfrm>
            <a:off x="373800" y="1076125"/>
            <a:ext cx="4257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Purpose: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Validate resonator locations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Observe phase transition at resonance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Observation: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Sharp phase change at resonant frequencies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Confirms resonator identification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30" name="Google Shape;330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7350" y="1255775"/>
            <a:ext cx="4208100" cy="338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Punchout Measurement (Q0) </a:t>
            </a:r>
            <a:endParaRPr/>
          </a:p>
        </p:txBody>
      </p:sp>
      <p:sp>
        <p:nvSpPr>
          <p:cNvPr id="336" name="Google Shape;336;p53"/>
          <p:cNvSpPr txBox="1"/>
          <p:nvPr>
            <p:ph idx="1" type="body"/>
          </p:nvPr>
        </p:nvSpPr>
        <p:spPr>
          <a:xfrm>
            <a:off x="373800" y="1076125"/>
            <a:ext cx="3753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Purpose: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Determine optimal readout power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Study resonator behavior under varying power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Observation: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Resonator feature becomes clearly visible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Best operating region identified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Readout Frequency ≈ 6.554 GHz </a:t>
            </a:r>
            <a:endParaRPr b="1"/>
          </a:p>
        </p:txBody>
      </p:sp>
      <p:pic>
        <p:nvPicPr>
          <p:cNvPr id="337" name="Google Shape;33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475" y="1147225"/>
            <a:ext cx="3314794" cy="369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Punchout Measurement (Q1) </a:t>
            </a:r>
            <a:endParaRPr/>
          </a:p>
        </p:txBody>
      </p:sp>
      <p:sp>
        <p:nvSpPr>
          <p:cNvPr id="343" name="Google Shape;343;p54"/>
          <p:cNvSpPr txBox="1"/>
          <p:nvPr>
            <p:ph idx="1" type="body"/>
          </p:nvPr>
        </p:nvSpPr>
        <p:spPr>
          <a:xfrm>
            <a:off x="373800" y="1076125"/>
            <a:ext cx="4104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Purpose: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Determine Q1 resonator frequency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Optimize readout conditions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Observation: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Resonator clearly visible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Suitable power region identified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Readout Frequency ≈ 6.558 GHz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1050" y="1076125"/>
            <a:ext cx="3302899" cy="3691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Summary </a:t>
            </a:r>
            <a:endParaRPr/>
          </a:p>
        </p:txBody>
      </p:sp>
      <p:graphicFrame>
        <p:nvGraphicFramePr>
          <p:cNvPr id="350" name="Google Shape;350;p55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{264BD136-440F-4FF9-99F6-342C2503599D}</a:tableStyleId>
              </a:tblPr>
              <a:tblGrid>
                <a:gridCol w="1740550"/>
                <a:gridCol w="1740550"/>
                <a:gridCol w="1740550"/>
              </a:tblGrid>
              <a:tr h="41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Parameter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Q0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Q1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Resonator Frequency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~6.554 GHz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~6.558 GHz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Resonator Detected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Yesw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Phase Transition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Observed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Observed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13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Readout Region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Identified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Identified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Chevron Experiment </a:t>
            </a:r>
            <a:endParaRPr/>
          </a:p>
        </p:txBody>
      </p:sp>
      <p:sp>
        <p:nvSpPr>
          <p:cNvPr id="356" name="Google Shape;356;p56"/>
          <p:cNvSpPr txBox="1"/>
          <p:nvPr>
            <p:ph idx="1" type="body"/>
          </p:nvPr>
        </p:nvSpPr>
        <p:spPr>
          <a:xfrm>
            <a:off x="439575" y="1147225"/>
            <a:ext cx="3709200" cy="30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Determine the qubit transition frequency.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Method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Sweep drive frequency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Sweep pulse duration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Output:  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Chevron interference pattern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Parameters Extracted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Qubit frequency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Pulse timing information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56"/>
          <p:cNvSpPr txBox="1"/>
          <p:nvPr/>
        </p:nvSpPr>
        <p:spPr>
          <a:xfrm>
            <a:off x="4960150" y="2662100"/>
            <a:ext cx="34866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X-axis → Frequency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Y-axis → Pulse duration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Color → Excited-state probability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Chevron Experiment (Q0 &amp; Q1) </a:t>
            </a:r>
            <a:endParaRPr/>
          </a:p>
        </p:txBody>
      </p:sp>
      <p:pic>
        <p:nvPicPr>
          <p:cNvPr id="363" name="Google Shape;36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2175" y="1304450"/>
            <a:ext cx="3359000" cy="272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7221" y="1304450"/>
            <a:ext cx="3137729" cy="2726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57"/>
          <p:cNvSpPr txBox="1"/>
          <p:nvPr/>
        </p:nvSpPr>
        <p:spPr>
          <a:xfrm>
            <a:off x="772175" y="3955825"/>
            <a:ext cx="3859200" cy="9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Q0 Chevron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 range ≈ 4.452–4.470 GHz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 oscillatory pattern observed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Optimal qubit frequency identified near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4.460 GHz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57"/>
          <p:cNvSpPr txBox="1"/>
          <p:nvPr/>
        </p:nvSpPr>
        <p:spPr>
          <a:xfrm>
            <a:off x="5277925" y="3879025"/>
            <a:ext cx="4002000" cy="10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 Chevron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Frequency range ≈ 4.663–4.683 GHz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 oscillation fringes observed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Optimal qubit frequency identified near </a:t>
            </a: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4.673 GHz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Rabi Calibration </a:t>
            </a:r>
            <a:endParaRPr/>
          </a:p>
        </p:txBody>
      </p:sp>
      <p:sp>
        <p:nvSpPr>
          <p:cNvPr id="372" name="Google Shape;372;p58"/>
          <p:cNvSpPr txBox="1"/>
          <p:nvPr>
            <p:ph idx="1" type="body"/>
          </p:nvPr>
        </p:nvSpPr>
        <p:spPr>
          <a:xfrm>
            <a:off x="421325" y="1120950"/>
            <a:ext cx="3972300" cy="290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Determine pulse amplitudes for quantum gates.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Procedure:  </a:t>
            </a:r>
            <a:r>
              <a:rPr lang="en"/>
              <a:t>Apply microwave pulse with varying amplitude.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Result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Oscillatory behavior (Rabi Oscillation)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Parameters Obtained</a:t>
            </a:r>
            <a:endParaRPr b="1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X90 gate amplitude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X180 gate amplitude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73" name="Google Shape;373;p58" title="Screenshot 2026-06-12 12373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5325" y="1963225"/>
            <a:ext cx="2014850" cy="9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Amplitude Rabi Calibration </a:t>
            </a:r>
            <a:endParaRPr/>
          </a:p>
        </p:txBody>
      </p:sp>
      <p:pic>
        <p:nvPicPr>
          <p:cNvPr id="379" name="Google Shape;37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900" y="1116675"/>
            <a:ext cx="3791349" cy="2822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7100" y="1160525"/>
            <a:ext cx="3791349" cy="282245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9"/>
          <p:cNvSpPr txBox="1"/>
          <p:nvPr/>
        </p:nvSpPr>
        <p:spPr>
          <a:xfrm>
            <a:off x="1868275" y="4200600"/>
            <a:ext cx="576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Clear oscillations observed for Q0 and Q1.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Oscillation maxima correspond to π pulse amplitudes.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Oscillation minima correspond to ground-state population.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 Rabi</a:t>
            </a:r>
            <a:endParaRPr/>
          </a:p>
        </p:txBody>
      </p:sp>
      <p:pic>
        <p:nvPicPr>
          <p:cNvPr id="387" name="Google Shape;38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5600" y="1147225"/>
            <a:ext cx="4576800" cy="3601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60"/>
          <p:cNvSpPr txBox="1"/>
          <p:nvPr/>
        </p:nvSpPr>
        <p:spPr>
          <a:xfrm>
            <a:off x="442950" y="1060450"/>
            <a:ext cx="3947100" cy="37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the pulse duration required for: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X90 gate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X180 (π pulse)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pulse amplitude fixed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Sweep pulse duration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 qubit excited-state probability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Excitation probability increases and decreases periodically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Maximum population corresponds to π pulse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Half-period corresponds to π/2 pulse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Ramsey Experiment </a:t>
            </a:r>
            <a:endParaRPr/>
          </a:p>
        </p:txBody>
      </p:sp>
      <p:sp>
        <p:nvSpPr>
          <p:cNvPr id="394" name="Google Shape;394;p61"/>
          <p:cNvSpPr txBox="1"/>
          <p:nvPr>
            <p:ph idx="1" type="body"/>
          </p:nvPr>
        </p:nvSpPr>
        <p:spPr>
          <a:xfrm>
            <a:off x="527300" y="1015675"/>
            <a:ext cx="4125900" cy="384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Measure qubit coherence and frequency detuning. </a:t>
            </a:r>
            <a:br>
              <a:rPr lang="en"/>
            </a:br>
            <a:br>
              <a:rPr lang="en"/>
            </a:br>
            <a:r>
              <a:rPr b="1" lang="en"/>
              <a:t>Sequence</a:t>
            </a:r>
            <a:r>
              <a:rPr b="1" lang="en"/>
              <a:t> </a:t>
            </a:r>
            <a:br>
              <a:rPr b="1" lang="en"/>
            </a:br>
            <a:br>
              <a:rPr b="1" lang="en"/>
            </a:br>
            <a:r>
              <a:rPr b="1" lang="en"/>
              <a:t>X90</a:t>
            </a:r>
            <a:br>
              <a:rPr b="1" lang="en"/>
            </a:br>
            <a:r>
              <a:rPr b="1" lang="en"/>
              <a:t>↓</a:t>
            </a:r>
            <a:br>
              <a:rPr b="1" lang="en"/>
            </a:br>
            <a:r>
              <a:rPr b="1" lang="en"/>
              <a:t>Delay</a:t>
            </a:r>
            <a:br>
              <a:rPr b="1" lang="en"/>
            </a:br>
            <a:r>
              <a:rPr b="1" lang="en"/>
              <a:t>↓</a:t>
            </a:r>
            <a:br>
              <a:rPr b="1" lang="en"/>
            </a:br>
            <a:r>
              <a:rPr b="1" lang="en"/>
              <a:t>X90</a:t>
            </a:r>
            <a:br>
              <a:rPr b="1" lang="en"/>
            </a:br>
            <a:r>
              <a:rPr b="1" lang="en"/>
              <a:t>↓</a:t>
            </a:r>
            <a:br>
              <a:rPr b="1" lang="en"/>
            </a:br>
            <a:r>
              <a:rPr b="1" lang="en"/>
              <a:t>Measure</a:t>
            </a:r>
            <a:endParaRPr b="1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Parameters Obtained</a:t>
            </a:r>
            <a:br>
              <a:rPr b="1" lang="en"/>
            </a:br>
            <a:r>
              <a:rPr b="1" lang="en"/>
              <a:t>     1. </a:t>
            </a:r>
            <a:r>
              <a:rPr lang="en"/>
              <a:t>Frequency Detuning</a:t>
            </a:r>
            <a:br>
              <a:rPr lang="en"/>
            </a:br>
            <a:r>
              <a:rPr lang="en"/>
              <a:t>     2. T₂* Coherence Time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Observation :  </a:t>
            </a:r>
            <a:r>
              <a:rPr lang="en"/>
              <a:t>Oscillation envelope decays over time.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95" name="Google Shape;395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200" y="1275950"/>
            <a:ext cx="4186000" cy="332396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61"/>
          <p:cNvSpPr txBox="1"/>
          <p:nvPr/>
        </p:nvSpPr>
        <p:spPr>
          <a:xfrm>
            <a:off x="5027100" y="857450"/>
            <a:ext cx="3812100" cy="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Ramsey Fringe Measurement</a:t>
            </a:r>
            <a:r>
              <a:rPr lang="en"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DRAG Pulse Optimization </a:t>
            </a:r>
            <a:endParaRPr/>
          </a:p>
        </p:txBody>
      </p:sp>
      <p:sp>
        <p:nvSpPr>
          <p:cNvPr id="402" name="Google Shape;402;p62"/>
          <p:cNvSpPr txBox="1"/>
          <p:nvPr>
            <p:ph idx="1" type="body"/>
          </p:nvPr>
        </p:nvSpPr>
        <p:spPr>
          <a:xfrm>
            <a:off x="373800" y="1032275"/>
            <a:ext cx="4674000" cy="18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Standard Gaussian pulses may cause leakage to higher energy states.</a:t>
            </a:r>
            <a:endParaRPr sz="4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800"/>
              <a:t>Solution:  </a:t>
            </a:r>
            <a:r>
              <a:rPr lang="en" sz="4800"/>
              <a:t>DRAG (Derivative Removal by Adiabatic Gate)</a:t>
            </a:r>
            <a:endParaRPr sz="4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800"/>
              <a:t>Benefits</a:t>
            </a:r>
            <a:endParaRPr b="1" sz="48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" sz="4800"/>
              <a:t>Reduced leakage</a:t>
            </a:r>
            <a:endParaRPr sz="48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" sz="4800"/>
              <a:t>Improved gate fidelity</a:t>
            </a:r>
            <a:endParaRPr sz="48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" sz="4800"/>
              <a:t>Lower phase errors</a:t>
            </a:r>
            <a:endParaRPr sz="4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800"/>
              <a:t>Result:  </a:t>
            </a:r>
            <a:r>
              <a:rPr lang="en" sz="4800"/>
              <a:t>Optimized DRAG coefficient.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03" name="Google Shape;403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6225" y="1147223"/>
            <a:ext cx="3051375" cy="258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600" y="3055625"/>
            <a:ext cx="3051380" cy="1760875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62"/>
          <p:cNvSpPr txBox="1"/>
          <p:nvPr/>
        </p:nvSpPr>
        <p:spPr>
          <a:xfrm>
            <a:off x="4158300" y="3893700"/>
            <a:ext cx="4674000" cy="9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measurement curves vary oppositely with DRAG coefficient.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Optimal coefficient occurs near the crossing point.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Leakage and phase errors are minimized at this operating point.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Readout Optimization </a:t>
            </a:r>
            <a:endParaRPr/>
          </a:p>
        </p:txBody>
      </p:sp>
      <p:sp>
        <p:nvSpPr>
          <p:cNvPr id="411" name="Google Shape;411;p63"/>
          <p:cNvSpPr txBox="1"/>
          <p:nvPr>
            <p:ph idx="1" type="body"/>
          </p:nvPr>
        </p:nvSpPr>
        <p:spPr>
          <a:xfrm>
            <a:off x="373800" y="1076125"/>
            <a:ext cx="3774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Improve discrimination between |0⟩ and |1⟩ states.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Method : </a:t>
            </a:r>
            <a:r>
              <a:rPr lang="en"/>
              <a:t>Analyze IQ measurement distributions.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Parameters Optimized</a:t>
            </a:r>
            <a:endParaRPr b="1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Readout frequency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Readout power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Integration weights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Output:  </a:t>
            </a:r>
            <a:r>
              <a:rPr lang="en"/>
              <a:t>Maximum state separation.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br>
              <a:rPr lang="en"/>
            </a:b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2" name="Google Shape;412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6050" y="1537526"/>
            <a:ext cx="2174180" cy="171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10449" y="1537525"/>
            <a:ext cx="2174176" cy="171310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14" name="Google Shape;414;p63"/>
          <p:cNvGraphicFramePr/>
          <p:nvPr/>
        </p:nvGraphicFramePr>
        <p:xfrm>
          <a:off x="4531638" y="364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{264BD136-440F-4FF9-99F6-342C2503599D}</a:tableStyleId>
              </a:tblPr>
              <a:tblGrid>
                <a:gridCol w="1887450"/>
                <a:gridCol w="18874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Qubit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Readout Frequency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≈ 6.554 GHz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≈ 6.554 GHz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Randomized Benchmarking (RB) </a:t>
            </a:r>
            <a:endParaRPr/>
          </a:p>
        </p:txBody>
      </p:sp>
      <p:sp>
        <p:nvSpPr>
          <p:cNvPr id="420" name="Google Shape;420;p64"/>
          <p:cNvSpPr txBox="1"/>
          <p:nvPr>
            <p:ph idx="1" type="body"/>
          </p:nvPr>
        </p:nvSpPr>
        <p:spPr>
          <a:xfrm>
            <a:off x="373800" y="1076125"/>
            <a:ext cx="4367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Measure average gate fidelity.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Procedure: </a:t>
            </a:r>
            <a:r>
              <a:rPr lang="en"/>
              <a:t>Apply random gate sequences.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Metrics</a:t>
            </a:r>
            <a:endParaRPr b="1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Fidelity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Error per gate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Importance :  </a:t>
            </a:r>
            <a:r>
              <a:rPr lang="en"/>
              <a:t>Provides realistic estimate of gate performance.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21" name="Google Shape;421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0900" y="1450450"/>
            <a:ext cx="3856050" cy="297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7 — TWO-QUBIT OPERATIONS </a:t>
            </a:r>
            <a:endParaRPr/>
          </a:p>
        </p:txBody>
      </p:sp>
      <p:sp>
        <p:nvSpPr>
          <p:cNvPr id="427" name="Google Shape;427;p65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Resonance (CR) Calibration </a:t>
            </a:r>
            <a:endParaRPr/>
          </a:p>
        </p:txBody>
      </p:sp>
      <p:sp>
        <p:nvSpPr>
          <p:cNvPr id="433" name="Google Shape;433;p66"/>
          <p:cNvSpPr txBox="1"/>
          <p:nvPr>
            <p:ph idx="1" type="body"/>
          </p:nvPr>
        </p:nvSpPr>
        <p:spPr>
          <a:xfrm>
            <a:off x="373800" y="1076125"/>
            <a:ext cx="4147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Generate entangling interaction between two qubits.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Principle:  </a:t>
            </a:r>
            <a:r>
              <a:rPr lang="en"/>
              <a:t>Drive control qubit at target qubit frequency.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Sweeps Performed</a:t>
            </a:r>
            <a:endParaRPr b="1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Pulse width sweep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Pulse amplitude sweep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Output:  </a:t>
            </a:r>
            <a:r>
              <a:rPr lang="en"/>
              <a:t>Optimal CR parameters.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4" name="Google Shape;43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4000" y="1299625"/>
            <a:ext cx="3857628" cy="369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 Amplitude Optimization </a:t>
            </a:r>
            <a:endParaRPr/>
          </a:p>
        </p:txBody>
      </p:sp>
      <p:sp>
        <p:nvSpPr>
          <p:cNvPr id="440" name="Google Shape;440;p67"/>
          <p:cNvSpPr txBox="1"/>
          <p:nvPr>
            <p:ph idx="1" type="body"/>
          </p:nvPr>
        </p:nvSpPr>
        <p:spPr>
          <a:xfrm>
            <a:off x="373800" y="1076125"/>
            <a:ext cx="39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Observation: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Response increases with drive strength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Saturation region observed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Optimum operating point identified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1" name="Google Shape;44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6825" y="1300176"/>
            <a:ext cx="4145475" cy="312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 Hamiltonian Fit </a:t>
            </a:r>
            <a:endParaRPr/>
          </a:p>
        </p:txBody>
      </p:sp>
      <p:sp>
        <p:nvSpPr>
          <p:cNvPr id="447" name="Google Shape;447;p68"/>
          <p:cNvSpPr txBox="1"/>
          <p:nvPr>
            <p:ph idx="1" type="body"/>
          </p:nvPr>
        </p:nvSpPr>
        <p:spPr>
          <a:xfrm>
            <a:off x="465200" y="1147225"/>
            <a:ext cx="399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Experimental data (blue points)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Model fit (orange curve)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Observation:</a:t>
            </a:r>
            <a:endParaRPr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Good agreement between measurement and model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/>
              <a:t>Confirms extracted interaction parameters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8" name="Google Shape;44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3150" y="1280526"/>
            <a:ext cx="4089150" cy="308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Full XY Characterization </a:t>
            </a:r>
            <a:endParaRPr/>
          </a:p>
        </p:txBody>
      </p:sp>
      <p:sp>
        <p:nvSpPr>
          <p:cNvPr id="454" name="Google Shape;454;p69"/>
          <p:cNvSpPr txBox="1"/>
          <p:nvPr>
            <p:ph idx="1" type="body"/>
          </p:nvPr>
        </p:nvSpPr>
        <p:spPr>
          <a:xfrm>
            <a:off x="373800" y="1076125"/>
            <a:ext cx="4038000" cy="17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Characterize two-qubit gate errors.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Parameters Evaluated</a:t>
            </a:r>
            <a:endParaRPr b="1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Phase errors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Amplitude errors</a:t>
            </a:r>
            <a:endParaRPr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Crosstalk effects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Importance: </a:t>
            </a:r>
            <a:r>
              <a:rPr lang="en"/>
              <a:t>Validates quality of entangling operations.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55" name="Google Shape;455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5013" y="913725"/>
            <a:ext cx="3684926" cy="2757025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69"/>
          <p:cNvSpPr txBox="1"/>
          <p:nvPr/>
        </p:nvSpPr>
        <p:spPr>
          <a:xfrm>
            <a:off x="373800" y="2991000"/>
            <a:ext cx="3201600" cy="1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Distinct oscillatory behavior observed across measurement channels.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quadratures reveal interaction components.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Enables extraction of Hamiltonian coefficients.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69"/>
          <p:cNvSpPr txBox="1"/>
          <p:nvPr/>
        </p:nvSpPr>
        <p:spPr>
          <a:xfrm>
            <a:off x="4619775" y="3670750"/>
            <a:ext cx="3815400" cy="13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Obtained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ZX interaction strength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IX interaction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IY interaction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Crosstalk contributions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CNOT Truth Table </a:t>
            </a:r>
            <a:endParaRPr/>
          </a:p>
        </p:txBody>
      </p:sp>
      <p:sp>
        <p:nvSpPr>
          <p:cNvPr id="463" name="Google Shape;463;p70"/>
          <p:cNvSpPr txBox="1"/>
          <p:nvPr>
            <p:ph idx="1" type="body"/>
          </p:nvPr>
        </p:nvSpPr>
        <p:spPr>
          <a:xfrm>
            <a:off x="327225" y="1147225"/>
            <a:ext cx="2963700" cy="30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Verify correct operation of CNOT gate.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Ideal Truth Table </a:t>
            </a:r>
            <a:br>
              <a:rPr b="1" lang="en"/>
            </a:b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graphicFrame>
        <p:nvGraphicFramePr>
          <p:cNvPr id="464" name="Google Shape;464;p70"/>
          <p:cNvGraphicFramePr/>
          <p:nvPr/>
        </p:nvGraphicFramePr>
        <p:xfrm>
          <a:off x="601650" y="183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{264BD136-440F-4FF9-99F6-342C2503599D}</a:tableStyleId>
              </a:tblPr>
              <a:tblGrid>
                <a:gridCol w="804950"/>
                <a:gridCol w="804950"/>
                <a:gridCol w="804950"/>
              </a:tblGrid>
              <a:tr h="49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Control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Target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Output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2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465" name="Google Shape;465;p70"/>
          <p:cNvSpPr txBox="1"/>
          <p:nvPr/>
        </p:nvSpPr>
        <p:spPr>
          <a:xfrm>
            <a:off x="464875" y="4202425"/>
            <a:ext cx="55698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Observation: 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probabilities should closely match ideal values.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466" name="Google Shape;46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9000" y="1196550"/>
            <a:ext cx="3702718" cy="27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CNOT Gate Performance Evaluation </a:t>
            </a:r>
            <a:endParaRPr/>
          </a:p>
        </p:txBody>
      </p:sp>
      <p:sp>
        <p:nvSpPr>
          <p:cNvPr id="472" name="Google Shape;472;p71"/>
          <p:cNvSpPr txBox="1"/>
          <p:nvPr>
            <p:ph idx="1" type="body"/>
          </p:nvPr>
        </p:nvSpPr>
        <p:spPr>
          <a:xfrm>
            <a:off x="373800" y="1076125"/>
            <a:ext cx="5310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Objective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Validate the operation of the calibrated CNOT gate.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Evaluate gate performance after CR and Full XY calibration.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Observation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Measured values remain around 0.75–0.85.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Average performance is approximately 80%.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Indicates successful implementation of the entangling gate.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latin typeface="Arial"/>
                <a:ea typeface="Arial"/>
                <a:cs typeface="Arial"/>
                <a:sym typeface="Arial"/>
              </a:rPr>
              <a:t>Learning Outcome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Understood CNOT gate realization from CR interaction.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Evaluated two-qubit gate performance.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73" name="Google Shape;47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9500" y="1377925"/>
            <a:ext cx="3702718" cy="275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Two-Qubit Randomized Benchmarking  </a:t>
            </a:r>
            <a:endParaRPr/>
          </a:p>
        </p:txBody>
      </p:sp>
      <p:sp>
        <p:nvSpPr>
          <p:cNvPr id="479" name="Google Shape;479;p72"/>
          <p:cNvSpPr txBox="1"/>
          <p:nvPr>
            <p:ph idx="1" type="body"/>
          </p:nvPr>
        </p:nvSpPr>
        <p:spPr>
          <a:xfrm>
            <a:off x="373800" y="1076125"/>
            <a:ext cx="4892400" cy="14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Measure fidelity of two-qubit gates.</a:t>
            </a:r>
            <a:endParaRPr sz="4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800"/>
              <a:t>Metrics</a:t>
            </a:r>
            <a:endParaRPr b="1" sz="4800"/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" sz="4800"/>
              <a:t>Average gate fidelity</a:t>
            </a:r>
            <a:endParaRPr sz="4800"/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Calibri"/>
              <a:buChar char="●"/>
            </a:pPr>
            <a:r>
              <a:rPr lang="en" sz="4800"/>
              <a:t>Error rate</a:t>
            </a:r>
            <a:endParaRPr sz="4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800"/>
              <a:t>Importance:  </a:t>
            </a:r>
            <a:r>
              <a:rPr lang="en" sz="4800"/>
              <a:t>Most important performance metric for quantum processors.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80" name="Google Shape;480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6075" y="1429338"/>
            <a:ext cx="3418500" cy="264758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72"/>
          <p:cNvSpPr txBox="1"/>
          <p:nvPr/>
        </p:nvSpPr>
        <p:spPr>
          <a:xfrm>
            <a:off x="373800" y="2552425"/>
            <a:ext cx="5328600" cy="30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expectation value decreases with increasing sequence length due to accumulated gate errors.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fitted model gives: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A=0.954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p=0.946p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AAA = SPAM (State Preparation and Measurement) parameter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ppp = depolarizing parameter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Calibration Workflow Summary </a:t>
            </a:r>
            <a:endParaRPr/>
          </a:p>
        </p:txBody>
      </p:sp>
      <p:sp>
        <p:nvSpPr>
          <p:cNvPr id="487" name="Google Shape;487;p73"/>
          <p:cNvSpPr txBox="1"/>
          <p:nvPr>
            <p:ph idx="1" type="body"/>
          </p:nvPr>
        </p:nvSpPr>
        <p:spPr>
          <a:xfrm>
            <a:off x="922000" y="1147225"/>
            <a:ext cx="2042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Resonator Search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Punchout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Readout Optimization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Amplitude Rabi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Time Rabi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IQ Calibration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Ramsey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DRAG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Single-Qubit RB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  ↓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488" name="Google Shape;488;p73"/>
          <p:cNvSpPr txBox="1"/>
          <p:nvPr/>
        </p:nvSpPr>
        <p:spPr>
          <a:xfrm>
            <a:off x="3212525" y="2115675"/>
            <a:ext cx="2455800" cy="25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 Resonance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 Calibration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XY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CNOT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↓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Two-Qubit RB</a:t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489" name="Google Shape;489;p73"/>
          <p:cNvCxnSpPr/>
          <p:nvPr/>
        </p:nvCxnSpPr>
        <p:spPr>
          <a:xfrm flipH="1" rot="10800000">
            <a:off x="1342000" y="4482125"/>
            <a:ext cx="1578900" cy="21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0" name="Google Shape;490;p73"/>
          <p:cNvCxnSpPr/>
          <p:nvPr/>
        </p:nvCxnSpPr>
        <p:spPr>
          <a:xfrm rot="10800000">
            <a:off x="2898900" y="1587725"/>
            <a:ext cx="0" cy="291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73"/>
          <p:cNvCxnSpPr/>
          <p:nvPr/>
        </p:nvCxnSpPr>
        <p:spPr>
          <a:xfrm>
            <a:off x="2876950" y="1631450"/>
            <a:ext cx="986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73"/>
          <p:cNvCxnSpPr/>
          <p:nvPr/>
        </p:nvCxnSpPr>
        <p:spPr>
          <a:xfrm>
            <a:off x="3863650" y="1631450"/>
            <a:ext cx="0" cy="482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8 — RECENT RESEARCH </a:t>
            </a:r>
            <a:endParaRPr/>
          </a:p>
        </p:txBody>
      </p:sp>
      <p:sp>
        <p:nvSpPr>
          <p:cNvPr id="498" name="Google Shape;498;p74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Hardware-Assisted Parameterized Circuits </a:t>
            </a:r>
            <a:endParaRPr/>
          </a:p>
        </p:txBody>
      </p:sp>
      <p:sp>
        <p:nvSpPr>
          <p:cNvPr id="504" name="Google Shape;504;p75"/>
          <p:cNvSpPr txBox="1"/>
          <p:nvPr>
            <p:ph idx="1" type="body"/>
          </p:nvPr>
        </p:nvSpPr>
        <p:spPr>
          <a:xfrm>
            <a:off x="373800" y="1076125"/>
            <a:ext cx="4695900" cy="11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Parameterized quantum algorithms suffer from compilation overhead.</a:t>
            </a:r>
            <a:endParaRPr sz="4800"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800"/>
              <a:t>Idea</a:t>
            </a:r>
            <a:endParaRPr b="1"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 sz="4800"/>
              <a:t>Store circuit template in hardware and update only parameters.</a:t>
            </a: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91667"/>
              <a:buFont typeface="Arial"/>
              <a:buNone/>
            </a:pPr>
            <a:r>
              <a:rPr lang="en"/>
              <a:t>    </a:t>
            </a:r>
            <a:endParaRPr/>
          </a:p>
        </p:txBody>
      </p:sp>
      <p:sp>
        <p:nvSpPr>
          <p:cNvPr id="505" name="Google Shape;505;p75"/>
          <p:cNvSpPr txBox="1"/>
          <p:nvPr/>
        </p:nvSpPr>
        <p:spPr>
          <a:xfrm>
            <a:off x="815700" y="2223625"/>
            <a:ext cx="40566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Workflow :</a:t>
            </a: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Circuit Template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↓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Parameter Stitching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↓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FPGA Execution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75"/>
          <p:cNvSpPr txBox="1"/>
          <p:nvPr/>
        </p:nvSpPr>
        <p:spPr>
          <a:xfrm>
            <a:off x="618375" y="3692750"/>
            <a:ext cx="4802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Lower latency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Faster optimization loops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Reduced compilation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Relevance to QubiC </a:t>
            </a:r>
            <a:endParaRPr/>
          </a:p>
        </p:txBody>
      </p:sp>
      <p:sp>
        <p:nvSpPr>
          <p:cNvPr id="512" name="Google Shape;512;p76"/>
          <p:cNvSpPr txBox="1"/>
          <p:nvPr>
            <p:ph idx="1" type="body"/>
          </p:nvPr>
        </p:nvSpPr>
        <p:spPr>
          <a:xfrm>
            <a:off x="311700" y="988425"/>
            <a:ext cx="7060500" cy="37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Connection to QubiC Architecture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Compiler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↓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Parameterized Circuits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↓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Distributed Processor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    ↓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RFSoC Execution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Why Important</a:t>
            </a:r>
            <a:endParaRPr b="1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Supports VQE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Supports QAOA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Enables real-time parameter updates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Learning Outcome:  </a:t>
            </a:r>
            <a:r>
              <a:rPr lang="en"/>
              <a:t>Understanding hardware-software co-design.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77"/>
          <p:cNvSpPr txBox="1"/>
          <p:nvPr>
            <p:ph type="title"/>
          </p:nvPr>
        </p:nvSpPr>
        <p:spPr>
          <a:xfrm>
            <a:off x="311700" y="307000"/>
            <a:ext cx="8520600" cy="114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9 — MY CURRENT UNDERSTANDING </a:t>
            </a:r>
            <a:endParaRPr/>
          </a:p>
        </p:txBody>
      </p:sp>
      <p:sp>
        <p:nvSpPr>
          <p:cNvPr id="518" name="Google Shape;518;p77"/>
          <p:cNvSpPr txBox="1"/>
          <p:nvPr>
            <p:ph idx="1" type="body"/>
          </p:nvPr>
        </p:nvSpPr>
        <p:spPr>
          <a:xfrm>
            <a:off x="373800" y="2135800"/>
            <a:ext cx="8520600" cy="22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7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 Have Learned </a:t>
            </a:r>
            <a:endParaRPr/>
          </a:p>
        </p:txBody>
      </p:sp>
      <p:sp>
        <p:nvSpPr>
          <p:cNvPr id="524" name="Google Shape;524;p78"/>
          <p:cNvSpPr txBox="1"/>
          <p:nvPr>
            <p:ph idx="1" type="body"/>
          </p:nvPr>
        </p:nvSpPr>
        <p:spPr>
          <a:xfrm>
            <a:off x="527325" y="1105700"/>
            <a:ext cx="21741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Compiler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OpenQASM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IR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Assembly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Hardware Execution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RPC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RFSoC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Measurement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78"/>
          <p:cNvSpPr txBox="1"/>
          <p:nvPr/>
        </p:nvSpPr>
        <p:spPr>
          <a:xfrm>
            <a:off x="3249750" y="1170950"/>
            <a:ext cx="3048000" cy="3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Calibration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Single-Qubit Calibration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Two-Qubit Calibration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Parameterized Circuits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Hardware-Software Co-Design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Faced </a:t>
            </a:r>
            <a:endParaRPr/>
          </a:p>
        </p:txBody>
      </p:sp>
      <p:sp>
        <p:nvSpPr>
          <p:cNvPr id="531" name="Google Shape;531;p79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Technical Challenges</a:t>
            </a:r>
            <a:endParaRPr b="1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OpenQASM import issues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Hardware timeout issues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Understanding compiler passes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Understanding calibration workflow</a:t>
            </a:r>
            <a:endParaRPr/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How Addressed</a:t>
            </a:r>
            <a:endParaRPr b="1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Documentation study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Source code analysis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Notebook experimentation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/>
              <a:t>Research paper review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Major Achievements </a:t>
            </a:r>
            <a:endParaRPr/>
          </a:p>
        </p:txBody>
      </p:sp>
      <p:sp>
        <p:nvSpPr>
          <p:cNvPr id="537" name="Google Shape;537;p80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Installed QubiC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Studied Compiler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Executed Hardware Demo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Performed Calibration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Analyzed Source Code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Investigated Advanced Features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✓ Executed 2Q Gate Characterization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81"/>
          <p:cNvSpPr txBox="1"/>
          <p:nvPr>
            <p:ph type="title"/>
          </p:nvPr>
        </p:nvSpPr>
        <p:spPr>
          <a:xfrm>
            <a:off x="311700" y="2448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lang="en"/>
              <a:t>SECTION 10 — FUTURE WORK </a:t>
            </a:r>
            <a:endParaRPr/>
          </a:p>
        </p:txBody>
      </p:sp>
      <p:sp>
        <p:nvSpPr>
          <p:cNvPr id="543" name="Google Shape;543;p81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Immediate Tasks </a:t>
            </a:r>
            <a:endParaRPr/>
          </a:p>
        </p:txBody>
      </p:sp>
      <p:sp>
        <p:nvSpPr>
          <p:cNvPr id="549" name="Google Shape;549;p82"/>
          <p:cNvSpPr txBox="1"/>
          <p:nvPr>
            <p:ph idx="1" type="body"/>
          </p:nvPr>
        </p:nvSpPr>
        <p:spPr>
          <a:xfrm>
            <a:off x="311700" y="1054200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Advanced Topics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AdvancedFeatures.ipynb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Dynamic Branching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Feed-Forward Control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Distributed Processor ISA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latin typeface="Arial"/>
                <a:ea typeface="Arial"/>
                <a:cs typeface="Arial"/>
                <a:sym typeface="Arial"/>
              </a:rPr>
              <a:t>Next Objective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Understand real-time feedback execution inside RFSoC.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Towards Conference Paper </a:t>
            </a:r>
            <a:endParaRPr/>
          </a:p>
        </p:txBody>
      </p:sp>
      <p:sp>
        <p:nvSpPr>
          <p:cNvPr id="555" name="Google Shape;555;p83"/>
          <p:cNvSpPr txBox="1"/>
          <p:nvPr>
            <p:ph idx="1" type="body"/>
          </p:nvPr>
        </p:nvSpPr>
        <p:spPr>
          <a:xfrm>
            <a:off x="373800" y="10761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Proposed </a:t>
            </a:r>
            <a:r>
              <a:rPr b="1" lang="en" sz="1300"/>
              <a:t>Topic: </a:t>
            </a:r>
            <a:br>
              <a:rPr b="1" lang="en" sz="1300"/>
            </a:br>
            <a:r>
              <a:rPr b="1" lang="en" sz="1100">
                <a:solidFill>
                  <a:schemeClr val="dk1"/>
                </a:solidFill>
              </a:rPr>
              <a:t>Software-Hardware Co-Design for FPGA-Based Quantum Control Using the QubiC Framework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Potential contributions: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Compiler analysis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Calibration workflow study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Parameterized circuit execution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Control-stack optimization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 </a:t>
            </a:r>
            <a:endParaRPr/>
          </a:p>
        </p:txBody>
      </p:sp>
      <p:sp>
        <p:nvSpPr>
          <p:cNvPr id="561" name="Google Shape;561;p84"/>
          <p:cNvSpPr txBox="1"/>
          <p:nvPr>
            <p:ph idx="1" type="body"/>
          </p:nvPr>
        </p:nvSpPr>
        <p:spPr>
          <a:xfrm>
            <a:off x="311700" y="1147225"/>
            <a:ext cx="4758000" cy="5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Successfully studied and exercised the complete QubiC software stack: </a:t>
            </a:r>
            <a:br>
              <a:rPr lang="en"/>
            </a:br>
            <a:endParaRPr/>
          </a:p>
        </p:txBody>
      </p:sp>
      <p:sp>
        <p:nvSpPr>
          <p:cNvPr id="562" name="Google Shape;562;p84"/>
          <p:cNvSpPr txBox="1"/>
          <p:nvPr/>
        </p:nvSpPr>
        <p:spPr>
          <a:xfrm>
            <a:off x="5398675" y="863975"/>
            <a:ext cx="2938500" cy="35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OpenQASM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     ↓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Compiler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     ↓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QubiC IR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     ↓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Assembly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     ↓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RFSoC Execution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     ↓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Measurement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     ↓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Calibration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      ↓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Validated Quantum Operations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563" name="Google Shape;563;p84"/>
          <p:cNvSpPr txBox="1"/>
          <p:nvPr/>
        </p:nvSpPr>
        <p:spPr>
          <a:xfrm>
            <a:off x="442950" y="2135800"/>
            <a:ext cx="4758000" cy="22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Internship Outcome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✓ Architecture Understanding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✓ Source Code Analysis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✓ Calibration Execution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✓ Hardware Workflow Understanding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✓ Research Direction Identified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